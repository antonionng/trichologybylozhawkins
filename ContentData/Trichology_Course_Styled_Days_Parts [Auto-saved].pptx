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9" r:id="rId2"/>
    <p:sldId id="256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0"/>
  </p:normalViewPr>
  <p:slideViewPr>
    <p:cSldViewPr snapToGrid="0" snapToObjects="1">
      <p:cViewPr varScale="1">
        <p:scale>
          <a:sx n="107" d="100"/>
          <a:sy n="107" d="100"/>
        </p:scale>
        <p:origin x="176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t>Tricocare PH1</a:t>
            </a:r>
          </a:p>
          <a:p>
            <a:pPr algn="l"/>
            <a:r>
              <a:rPr sz="2400" b="1"/>
              <a:t>Days 1–8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t>An Introduction to Trichology for Hairdressers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0178"/>
            <a:ext cx="8229600" cy="1143001"/>
          </a:xfrm>
        </p:spPr>
        <p:txBody>
          <a:bodyPr>
            <a:normAutofit fontScale="90000"/>
          </a:bodyPr>
          <a:lstStyle/>
          <a:p>
            <a:pPr algn="l"/>
            <a:r>
              <a:rPr lang="en-GB" sz="4400" b="1" dirty="0"/>
              <a:t>Day 1 – </a:t>
            </a:r>
            <a:r>
              <a:rPr lang="en-GB" sz="4000" b="1" dirty="0"/>
              <a:t>Part 1: Introduction to Trichology</a:t>
            </a:r>
            <a:br>
              <a:rPr lang="en-GB" sz="4400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65684"/>
            <a:ext cx="8229600" cy="3960479"/>
          </a:xfrm>
        </p:spPr>
        <p:txBody>
          <a:bodyPr>
            <a:normAutofit/>
          </a:bodyPr>
          <a:lstStyle/>
          <a:p>
            <a:pPr algn="l"/>
            <a:r>
              <a:rPr dirty="0"/>
              <a:t>- </a:t>
            </a:r>
            <a:r>
              <a:rPr sz="2800" dirty="0"/>
              <a:t>What is Trichology? (Greek: '</a:t>
            </a:r>
            <a:r>
              <a:rPr sz="2800" dirty="0" err="1"/>
              <a:t>Trikhos</a:t>
            </a:r>
            <a:r>
              <a:rPr sz="2800" dirty="0"/>
              <a:t>' = hair)</a:t>
            </a:r>
          </a:p>
          <a:p>
            <a:pPr algn="l"/>
            <a:r>
              <a:rPr sz="2800" dirty="0"/>
              <a:t>- Science of hair structure, function, and scalp disorders</a:t>
            </a:r>
            <a:endParaRPr lang="en-GB" sz="2800" dirty="0"/>
          </a:p>
          <a:p>
            <a:pPr algn="l"/>
            <a:r>
              <a:rPr lang="en-GB" sz="2800" dirty="0"/>
              <a:t>- Importance of trichology in salon settings</a:t>
            </a:r>
          </a:p>
          <a:p>
            <a:pPr algn="l"/>
            <a:r>
              <a:rPr lang="en-GB" sz="2800" dirty="0"/>
              <a:t>- Difference between trichologists, dermatologists, and stylists</a:t>
            </a:r>
          </a:p>
          <a:p>
            <a:pPr algn="l"/>
            <a:r>
              <a:rPr lang="en-GB" sz="2800" dirty="0"/>
              <a:t>- Why clients trust hair professionals for scalp concerns</a:t>
            </a:r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sz="4400" b="1" dirty="0"/>
              <a:t>Day 1 – Part 2: Hair &amp; Scalp Anatomy</a:t>
            </a:r>
            <a:br>
              <a:rPr lang="en-GB" sz="4400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6611"/>
            <a:ext cx="8229600" cy="4369552"/>
          </a:xfrm>
        </p:spPr>
        <p:txBody>
          <a:bodyPr>
            <a:normAutofit/>
          </a:bodyPr>
          <a:lstStyle/>
          <a:p>
            <a:pPr algn="l"/>
            <a:r>
              <a:rPr dirty="0"/>
              <a:t>- </a:t>
            </a:r>
            <a:r>
              <a:rPr sz="2800" dirty="0"/>
              <a:t>Layers of the scalp: epidermis, dermis, hypodermis</a:t>
            </a:r>
          </a:p>
          <a:p>
            <a:pPr algn="l"/>
            <a:r>
              <a:rPr sz="2800" dirty="0"/>
              <a:t>- Hair structure: cuticle, cortex, medulla</a:t>
            </a:r>
            <a:endParaRPr lang="en-GB" sz="2800" dirty="0"/>
          </a:p>
          <a:p>
            <a:pPr algn="l"/>
            <a:r>
              <a:rPr lang="en-GB" sz="2800" dirty="0"/>
              <a:t>- Sebaceous glands: role in scalp and hair lubrication</a:t>
            </a:r>
          </a:p>
          <a:p>
            <a:pPr algn="l"/>
            <a:r>
              <a:rPr lang="en-GB" sz="2800" dirty="0"/>
              <a:t>- Hair composition: 78% protein, 15% water, 6% lipids, 1% pigment</a:t>
            </a:r>
          </a:p>
          <a:p>
            <a:pPr algn="l"/>
            <a:r>
              <a:rPr lang="en-GB" sz="2800" dirty="0"/>
              <a:t>- Integumentary system overview: skin, hair, glands</a:t>
            </a:r>
          </a:p>
          <a:p>
            <a:pPr marL="0" indent="0" algn="l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GB" b="1" dirty="0"/>
            </a:br>
            <a:r>
              <a:rPr lang="en-GB" sz="4400" b="1" dirty="0"/>
              <a:t>Day 1 – Part 3: Scalp Microbiome &amp; Growth Cycle</a:t>
            </a:r>
            <a:br>
              <a:rPr lang="en-GB" sz="4400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algn="l"/>
            <a:r>
              <a:rPr dirty="0"/>
              <a:t>- </a:t>
            </a:r>
            <a:r>
              <a:rPr sz="2800" dirty="0"/>
              <a:t>Hair growth phases: Anagen, Catagen, Telogen, Exogen</a:t>
            </a:r>
          </a:p>
          <a:p>
            <a:pPr algn="l"/>
            <a:r>
              <a:rPr sz="2800" dirty="0"/>
              <a:t>- Cycle disruptions: stress, hormones, medications</a:t>
            </a:r>
            <a:endParaRPr lang="en-GB" sz="2800" dirty="0"/>
          </a:p>
          <a:p>
            <a:pPr algn="l"/>
            <a:r>
              <a:rPr lang="en-GB" sz="2800" dirty="0"/>
              <a:t>Healthy scalp microbiome: role in hair retention</a:t>
            </a:r>
          </a:p>
          <a:p>
            <a:pPr algn="l"/>
            <a:r>
              <a:rPr lang="en-GB" sz="2800" dirty="0"/>
              <a:t>- Factors impacting scalp balance: products, hygiene, lifestyle</a:t>
            </a:r>
          </a:p>
          <a:p>
            <a:pPr algn="l"/>
            <a:r>
              <a:rPr lang="en-GB" sz="2800" dirty="0"/>
              <a:t>- Visual timeline of growth cycle (eg:1–7 years typical Anagen phase)</a:t>
            </a:r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Composition of Hair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Composition of Hair</a:t>
            </a:r>
          </a:p>
          <a:p>
            <a:pPr algn="l"/>
            <a:r>
              <a:t>- Composition of Hair</a:t>
            </a:r>
          </a:p>
          <a:p>
            <a:pPr algn="l"/>
            <a:r>
              <a:t>- Composition of Hair</a:t>
            </a:r>
          </a:p>
          <a:p>
            <a:pPr algn="l"/>
            <a:r>
              <a:t>- Hair Composition:</a:t>
            </a:r>
          </a:p>
          <a:p>
            <a:pPr algn="l"/>
            <a:r>
              <a:t>- Composition of Hair</a:t>
            </a:r>
          </a:p>
          <a:p>
            <a:pPr algn="l"/>
            <a:r>
              <a:t>- - 78–80% Protein (mainly Keratin)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Composition of Hair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Composition of Hair</a:t>
            </a:r>
          </a:p>
          <a:p>
            <a:pPr algn="l"/>
            <a:r>
              <a:t>- - 10–15% Water</a:t>
            </a:r>
          </a:p>
          <a:p>
            <a:pPr algn="l"/>
            <a:r>
              <a:t>- Composition of Hair</a:t>
            </a:r>
          </a:p>
          <a:p>
            <a:pPr algn="l"/>
            <a:r>
              <a:t>- - 6–9% Lipids</a:t>
            </a:r>
          </a:p>
          <a:p>
            <a:pPr algn="l"/>
            <a:r>
              <a:t>- Composition of Hair</a:t>
            </a:r>
          </a:p>
          <a:p>
            <a:pPr algn="l"/>
            <a:r>
              <a:t>- - ~1% Pigment and trace elements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Composition of Hair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Composition of Hair</a:t>
            </a:r>
          </a:p>
          <a:p>
            <a:pPr algn="l"/>
            <a:r>
              <a:t>- - Structural integrity and elasticity depend on protein and moisture balance</a:t>
            </a:r>
          </a:p>
          <a:p>
            <a:pPr algn="l"/>
            <a:r>
              <a:rPr sz="2400" b="1"/>
              <a:t>- Day 2 – Part 1: Hair Growth Phases &amp; Follicle Function</a:t>
            </a:r>
          </a:p>
          <a:p>
            <a:pPr algn="l"/>
            <a:r>
              <a:t>- Growth phases: Anagen (2–7 yrs), Catagen, Telogen, Exogen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Hair bulb, dermal papilla, and matrix explained</a:t>
            </a:r>
          </a:p>
          <a:p>
            <a:pPr algn="l"/>
            <a:r>
              <a:t>- Shedding vs true hair loss: daily norms</a:t>
            </a:r>
          </a:p>
          <a:p>
            <a:pPr algn="l"/>
            <a:r>
              <a:t>- What disrupts cycles: stress, hormones, illness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Follicle miniaturisation and regrowth timelines</a:t>
            </a:r>
          </a:p>
          <a:p>
            <a:pPr algn="l"/>
            <a:r>
              <a:rPr sz="2400" b="1"/>
              <a:t>- Day 2 – Part 2: Hair Texture, Density &amp; Growth Patterns</a:t>
            </a:r>
          </a:p>
          <a:p>
            <a:pPr algn="l"/>
            <a:r>
              <a:t>- Differences in Afro, Asian, and Caucasian hair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Hair texture types: Type 1–4 (straight to coily)</a:t>
            </a:r>
          </a:p>
          <a:p>
            <a:pPr algn="l"/>
            <a:r>
              <a:t>- Density, thickness, elasticity, diameter</a:t>
            </a:r>
          </a:p>
          <a:p>
            <a:pPr algn="l"/>
            <a:r>
              <a:t>- Growth directions: whorls, cowlicks, recession zones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Scalp mapping exercise</a:t>
            </a:r>
          </a:p>
          <a:p>
            <a:pPr algn="l"/>
            <a:r>
              <a:rPr sz="2400" b="1"/>
              <a:t>- Day 2 – Part 3: Hair Damage – Chemical, Physical &amp; Environmental</a:t>
            </a:r>
          </a:p>
          <a:p>
            <a:pPr algn="l"/>
            <a:r>
              <a:t>- Chemical: bleach, relaxers, oxidative dyes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Physical: brushing, heat, tight hairstyles</a:t>
            </a:r>
          </a:p>
          <a:p>
            <a:pPr algn="l"/>
            <a:r>
              <a:t>- Environmental: sun, chlorine, pollution</a:t>
            </a:r>
          </a:p>
          <a:p>
            <a:pPr algn="l"/>
            <a:r>
              <a:t>- Porosity and elasticity explained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Signs of internal vs external damage</a:t>
            </a:r>
          </a:p>
          <a:p>
            <a:pPr algn="l"/>
            <a:r>
              <a:rPr sz="2400" b="1"/>
              <a:t>- Day 3 – Part 1: Dandruff, Dermatitis &amp; Psoriasis</a:t>
            </a:r>
          </a:p>
          <a:p>
            <a:pPr algn="l"/>
            <a:r>
              <a:t>- Dandruff: non-contagious, white/grey flaking, common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Seborrheic dermatitis: greasy, yellow flakes, yeast-related</a:t>
            </a:r>
          </a:p>
          <a:p>
            <a:pPr algn="l"/>
            <a:r>
              <a:t>- Psoriasis: red, scaly patches, autoimmune, hereditary triggers</a:t>
            </a:r>
          </a:p>
          <a:p>
            <a:pPr algn="l"/>
            <a:r>
              <a:t>- Eczema: dry, itchy, linked to allergens/irritants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Pityriasis amiantacea: thick silver/yellow scales encasing hair shafts</a:t>
            </a:r>
          </a:p>
          <a:p>
            <a:pPr algn="l"/>
            <a:r>
              <a:rPr sz="2400" b="1"/>
              <a:t>- Day 3 – Part 2: Infections, Alopecia Types &amp; Trichotillomania</a:t>
            </a:r>
          </a:p>
          <a:p>
            <a:pPr algn="l"/>
            <a:r>
              <a:t>- Tinea Capitis (ringworm): fungal, contagious via combs/towels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Folliculitis: pustules or red bumps, bacterial or friction-based</a:t>
            </a:r>
          </a:p>
          <a:p>
            <a:pPr algn="l"/>
            <a:r>
              <a:t>- Alopecia Areata: patchy autoimmune hair loss</a:t>
            </a:r>
          </a:p>
          <a:p>
            <a:pPr algn="l"/>
            <a:r>
              <a:t>- Traction Alopecia: caused by tension hairstyles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Trichotillomania: compulsive hair pulling (psychological)</a:t>
            </a:r>
          </a:p>
          <a:p>
            <a:pPr algn="l"/>
            <a:r>
              <a:rPr sz="2400" b="1"/>
              <a:t>- Day 3 – Part 3: Referral Boundaries &amp; Ethical Practice</a:t>
            </a:r>
          </a:p>
          <a:p>
            <a:pPr algn="l"/>
            <a:r>
              <a:t>- When NOT to treat: bleeding, infection, scalp wounds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Documenting observations vs offering a diagnosis</a:t>
            </a:r>
          </a:p>
          <a:p>
            <a:pPr algn="l"/>
            <a:r>
              <a:t>- Legal language: “recommend,” not “diagnose”</a:t>
            </a:r>
          </a:p>
          <a:p>
            <a:pPr algn="l"/>
            <a:r>
              <a:t>- Referral relationships: GPs, dermatologists, trichologists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Client reassurance skills: tone, posture, calm delivery</a:t>
            </a:r>
          </a:p>
          <a:p>
            <a:pPr algn="l"/>
            <a:r>
              <a:rPr sz="2400" b="1"/>
              <a:t>- Day 4 – Part 1: Understanding Active Ingredients</a:t>
            </a:r>
          </a:p>
          <a:p>
            <a:pPr algn="l"/>
            <a:r>
              <a:t>- Salicylic acid: keratolytic for flaking scalps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Niacinamide: anti-inflammatory, strengthens barrier</a:t>
            </a:r>
          </a:p>
          <a:p>
            <a:pPr algn="l"/>
            <a:r>
              <a:t>- Caffeine: circulation stimulator</a:t>
            </a:r>
          </a:p>
          <a:p>
            <a:pPr algn="l"/>
            <a:r>
              <a:t>- Peptides &amp; botanicals: scalp rejuvenation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Natural oils: olive, shea, castor – soften and protect</a:t>
            </a:r>
          </a:p>
          <a:p>
            <a:pPr algn="l"/>
            <a:r>
              <a:rPr sz="2400" b="1"/>
              <a:t>- Day 4 – Part 2: Scalp Therapies &amp; In-Salon Protocols</a:t>
            </a:r>
          </a:p>
          <a:p>
            <a:pPr algn="l"/>
            <a:r>
              <a:t>- Steaming: opens follicles, improves serum absorption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Exfoliation: removes buildup, boosts cell turnover</a:t>
            </a:r>
          </a:p>
          <a:p>
            <a:pPr algn="l"/>
            <a:r>
              <a:t>- LED therapy: reduces inflammation, promotes growth</a:t>
            </a:r>
          </a:p>
          <a:p>
            <a:pPr algn="l"/>
            <a:r>
              <a:t>- Scalp masks, oils, and serums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Contraindications: when NOT to treat (e.g. open sores)</a:t>
            </a:r>
          </a:p>
          <a:p>
            <a:pPr algn="l"/>
            <a:r>
              <a:t>- Salicylic Acid for Scalp Health</a:t>
            </a:r>
          </a:p>
          <a:p>
            <a:pPr algn="l"/>
            <a:r>
              <a:t>- Salicylic Acid for Scalp Health</a:t>
            </a:r>
          </a:p>
          <a:p>
            <a:pPr algn="l"/>
            <a:r>
              <a:t>- Salicylic Acid for Scalp Health</a:t>
            </a:r>
          </a:p>
          <a:p>
            <a:pPr algn="l"/>
            <a:r>
              <a:t>- Salicylic Acid in Trichology: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Salicylic Acid for Scalp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Salicylic Acid for Scalp Health</a:t>
            </a:r>
          </a:p>
          <a:p>
            <a:pPr algn="l"/>
            <a:r>
              <a:t>- - Type: Beta Hydroxy Acid (BHA)</a:t>
            </a:r>
          </a:p>
          <a:p>
            <a:pPr algn="l"/>
            <a:r>
              <a:t>- Salicylic Acid for Scalp Health</a:t>
            </a:r>
          </a:p>
          <a:p>
            <a:pPr algn="l"/>
            <a:r>
              <a:t>- - Function: Keratolytic – breaks down dead skin cells</a:t>
            </a:r>
          </a:p>
          <a:p>
            <a:pPr algn="l"/>
            <a:r>
              <a:t>- Salicylic Acid for Scalp Health</a:t>
            </a:r>
          </a:p>
          <a:p>
            <a:pPr algn="l"/>
            <a:r>
              <a:t>- - Benefits: Treats dandruff, psoriasis, seborrheic dermatitis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Salicylic Acid for Scalp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Salicylic Acid for Scalp Health</a:t>
            </a:r>
          </a:p>
          <a:p>
            <a:pPr algn="l"/>
            <a:r>
              <a:t>- - Helps remove flakes and reduces scalp inflammation</a:t>
            </a:r>
          </a:p>
          <a:p>
            <a:pPr algn="l"/>
            <a:r>
              <a:t>- Salicylic Acid for Scalp Health</a:t>
            </a:r>
          </a:p>
          <a:p>
            <a:pPr algn="l"/>
            <a:r>
              <a:t>- - Often used in exfoliating shampoos and scalp treatments</a:t>
            </a:r>
          </a:p>
          <a:p>
            <a:pPr algn="l"/>
            <a:r>
              <a:rPr sz="2400" b="1"/>
              <a:t>- Day 4 – Part 3: Massage for Circulation &amp; Relaxation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Effleurage: light strokes to apply product</a:t>
            </a:r>
          </a:p>
          <a:p>
            <a:pPr algn="l"/>
            <a:r>
              <a:t>- Rotary/friction: stimulate scalp and remove buildup</a:t>
            </a:r>
          </a:p>
          <a:p>
            <a:pPr algn="l"/>
            <a:r>
              <a:t>- Petrissage: kneading to increase circulation and relax tension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Massage boosts lymphatic drainage and reduces stress</a:t>
            </a:r>
          </a:p>
          <a:p>
            <a:pPr algn="l"/>
            <a:r>
              <a:t>- When massage is unsuitable (e.g. migraines, infections)</a:t>
            </a:r>
          </a:p>
          <a:p>
            <a:pPr algn="l"/>
            <a:r>
              <a:rPr sz="2400" b="1"/>
              <a:t>- Day 5 – Part 1: Hair Types, Shapes &amp; Ethnic Variation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Follicle shape determines hair texture: round, oval, elliptical</a:t>
            </a:r>
          </a:p>
          <a:p>
            <a:pPr algn="l"/>
            <a:r>
              <a:t>- Hair types by curl pattern (Type 1–4 with subtypes a–c)</a:t>
            </a:r>
          </a:p>
          <a:p>
            <a:pPr algn="l"/>
            <a:r>
              <a:t>- Afro-textured hair: lower sebum distribution, prone to dryness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Asian hair: thick, straight, highest density</a:t>
            </a:r>
          </a:p>
          <a:p>
            <a:pPr algn="l"/>
            <a:r>
              <a:t>- European hair: wide variation in diameter and wave</a:t>
            </a:r>
          </a:p>
          <a:p>
            <a:pPr algn="l"/>
            <a:r>
              <a:rPr sz="2400" b="1"/>
              <a:t>- Day 5 – Part 2: Growth Patterns &amp; Tension Zones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Common scalp patterns: crowns, cowlicks, whorls</a:t>
            </a:r>
          </a:p>
          <a:p>
            <a:pPr algn="l"/>
            <a:r>
              <a:t>- Scalp tension zones: occipital, temporal, crown</a:t>
            </a:r>
          </a:p>
          <a:p>
            <a:pPr algn="l"/>
            <a:r>
              <a:t>- Mapping for thinning, alopecia zones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Directional growth impact on styling and tension</a:t>
            </a:r>
          </a:p>
          <a:p>
            <a:pPr algn="l"/>
            <a:r>
              <a:t>- Cultural styling factors and risks (e.g., braiding, locs)</a:t>
            </a:r>
          </a:p>
          <a:p>
            <a:pPr algn="l"/>
            <a:r>
              <a:rPr sz="2400" b="1"/>
              <a:t>- Day 5 – Part 3: Analysing Texture, Porosity &amp; Elasticity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Porosity test: low, normal, high</a:t>
            </a:r>
          </a:p>
          <a:p>
            <a:pPr algn="l"/>
            <a:r>
              <a:t>- Elasticity check: strength of the hair fibre</a:t>
            </a:r>
          </a:p>
          <a:p>
            <a:pPr algn="l"/>
            <a:r>
              <a:t>- Shrinkage, frizz, and hydration as client education points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How product use affects condition readings</a:t>
            </a:r>
          </a:p>
          <a:p>
            <a:pPr algn="l"/>
            <a:r>
              <a:t>- Use of mirrors, diagrams, and analogies in client teaching</a:t>
            </a:r>
          </a:p>
          <a:p>
            <a:pPr algn="l"/>
            <a:r>
              <a:rPr sz="2400" b="1"/>
              <a:t>- Day 6 – Part 1: Key Nutrients for Hair Growth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Hair is a non-essential tissue — nutrition deficiency shows early</a:t>
            </a:r>
          </a:p>
          <a:p>
            <a:pPr algn="l"/>
            <a:r>
              <a:t>- Iron, Zinc, Vitamin D3, B12: essential for follicle function</a:t>
            </a:r>
          </a:p>
          <a:p>
            <a:pPr algn="l"/>
            <a:r>
              <a:t>- Protein = keratin synthesis: low protein = shedding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Biotin myths: not always necessary unless deficient</a:t>
            </a:r>
          </a:p>
          <a:p>
            <a:pPr algn="l"/>
            <a:r>
              <a:t>- Hydration and antioxidant-rich foods = improved scalp barrier</a:t>
            </a:r>
          </a:p>
          <a:p>
            <a:pPr algn="l"/>
            <a:r>
              <a:rPr sz="2400" b="1"/>
              <a:t>- Day 6 – Part 2: Hormonal Imbalances &amp; Hair Shedding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Androgens &amp; DHT: key role in male/female pattern hair loss</a:t>
            </a:r>
          </a:p>
          <a:p>
            <a:pPr algn="l"/>
            <a:r>
              <a:t>- Menopause: oestrogen drop = follicle shrinkage</a:t>
            </a:r>
          </a:p>
          <a:p>
            <a:pPr algn="l"/>
            <a:r>
              <a:t>- PCOS: excess androgens, insulin resistance, hair thinning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Postpartum shedding: Telogen Effluvium due to hormonal shift</a:t>
            </a:r>
          </a:p>
          <a:p>
            <a:pPr algn="l"/>
            <a:r>
              <a:t>- Thyroid imbalance: slow regrowth, coarse texture, diffuse loss</a:t>
            </a:r>
          </a:p>
          <a:p>
            <a:pPr algn="l"/>
            <a:r>
              <a:rPr sz="2400" b="1"/>
              <a:t>- Day 6 – Part 3: The Impact of Stress, Sleep &amp; Habits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Cortisol increases = hair moves into telogen (resting) phase</a:t>
            </a:r>
          </a:p>
          <a:p>
            <a:pPr algn="l"/>
            <a:r>
              <a:t>- Poor sleep affects scalp repair and follicle turnover</a:t>
            </a:r>
          </a:p>
          <a:p>
            <a:pPr algn="l"/>
            <a:r>
              <a:t>- Gut health &amp; inflammation linked to autoimmune hair loss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Smoking, alcohol, extreme dieting all reduce hair health</a:t>
            </a:r>
          </a:p>
          <a:p>
            <a:pPr algn="l"/>
            <a:r>
              <a:t>- Hair professionals’ role in spotting chronic stress signs</a:t>
            </a:r>
          </a:p>
          <a:p>
            <a:pPr algn="l"/>
            <a:r>
              <a:rPr sz="2400" b="1"/>
              <a:t>- Day 7 – Part 1: Building Trust Through Consultation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Goals of trichology consultation: gather, educate, reassure</a:t>
            </a:r>
          </a:p>
          <a:p>
            <a:pPr algn="l"/>
            <a:r>
              <a:t>- Building rapport: tone, posture, empathy</a:t>
            </a:r>
          </a:p>
          <a:p>
            <a:pPr algn="l"/>
            <a:r>
              <a:t>- Intake form essentials: health history, lifestyle, allergies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Open-ended vs closed questions: when to use</a:t>
            </a:r>
          </a:p>
          <a:p>
            <a:pPr algn="l"/>
            <a:r>
              <a:t>- Confidentiality &amp; data protection (GDPR basics)</a:t>
            </a:r>
          </a:p>
          <a:p>
            <a:pPr algn="l"/>
            <a:r>
              <a:rPr sz="2400" b="1"/>
              <a:t>- Day 7 – Part 2: Allergy Testing &amp; Observation Tools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Colourstart: regulated allergy patch test (PPD-specific)</a:t>
            </a:r>
          </a:p>
          <a:p>
            <a:pPr algn="l"/>
            <a:r>
              <a:t>- Manufacturer patch tests vs Colourstart differences</a:t>
            </a:r>
          </a:p>
          <a:p>
            <a:pPr algn="l"/>
            <a:r>
              <a:t>- When and how to patch test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Dermatoscopy: observing flaking, redness, pustules</a:t>
            </a:r>
          </a:p>
          <a:p>
            <a:pPr algn="l"/>
            <a:r>
              <a:t>- Scalp photography: tracking changes over time</a:t>
            </a:r>
          </a:p>
          <a:p>
            <a:pPr algn="l"/>
            <a:r>
              <a:rPr sz="2400" b="1"/>
              <a:t>- Day 7 – Part 3: Reviewing Results &amp; Maintaining Engagement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Track improvement with photos, notes, forms</a:t>
            </a:r>
          </a:p>
          <a:p>
            <a:pPr algn="l"/>
            <a:r>
              <a:t>- Set realistic timelines &amp; expectations</a:t>
            </a:r>
          </a:p>
          <a:p>
            <a:pPr algn="l"/>
            <a:r>
              <a:t>- Communicate slow progress compassionately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Handle sensitive concerns (stress, alopecia)</a:t>
            </a:r>
          </a:p>
          <a:p>
            <a:pPr algn="l"/>
            <a:r>
              <a:t>- When to refer again or change treatment</a:t>
            </a:r>
          </a:p>
          <a:p>
            <a:pPr algn="l"/>
            <a:r>
              <a:rPr sz="2400" b="1"/>
              <a:t>- Day 8 – Part 1: Creating Your Signature Trichology Services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Detox, hydration, exfoliation, massage options</a:t>
            </a:r>
          </a:p>
          <a:p>
            <a:pPr algn="l"/>
            <a:r>
              <a:t>- Add-on vs standalone services</a:t>
            </a:r>
          </a:p>
          <a:p>
            <a:pPr algn="l"/>
            <a:r>
              <a:t>- Booking systems &amp; time management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Treatment bundles &amp; packages</a:t>
            </a:r>
          </a:p>
          <a:p>
            <a:pPr algn="l"/>
            <a:r>
              <a:t>- Consultation included in paid time</a:t>
            </a:r>
          </a:p>
          <a:p>
            <a:pPr algn="l"/>
            <a:r>
              <a:rPr sz="2400" b="1"/>
              <a:t>- Day 8 – Part 2: Pricing for Confidence &amp; Client Value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Set pricing based on time, product, expertise</a:t>
            </a:r>
          </a:p>
          <a:p>
            <a:pPr algn="l"/>
            <a:r>
              <a:t>- Ethical retail recommendations</a:t>
            </a:r>
          </a:p>
          <a:p>
            <a:pPr algn="l"/>
            <a:r>
              <a:t>- Educate = retain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Use social media to position yourself</a:t>
            </a:r>
          </a:p>
          <a:p>
            <a:pPr algn="l"/>
            <a:r>
              <a:t>- Before/after reels, testimonials, disclaimers</a:t>
            </a:r>
          </a:p>
          <a:p>
            <a:pPr algn="l"/>
            <a:r>
              <a:rPr sz="2400" b="1"/>
              <a:t>- Day 8 – Part 3: What You Can (and Can’t) Say or Do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Stylists: observe, recommend, refer, educate</a:t>
            </a:r>
          </a:p>
          <a:p>
            <a:pPr algn="l"/>
            <a:r>
              <a:t>- Avoid diagnosis; use safe language</a:t>
            </a:r>
          </a:p>
          <a:p>
            <a:pPr algn="l"/>
            <a:r>
              <a:t>- Get insured for scalp care services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- Use disclaimers &amp; patch-test waivers</a:t>
            </a:r>
          </a:p>
          <a:p>
            <a:pPr algn="l"/>
            <a:r>
              <a:t>- Continue CPD, clinical trichology pathways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20262</TotalTime>
  <Words>1647</Words>
  <Application>Microsoft Macintosh PowerPoint</Application>
  <PresentationFormat>On-screen Show (4:3)</PresentationFormat>
  <Paragraphs>180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Tricocare PH1 Days 1–8</vt:lpstr>
      <vt:lpstr>Day 1 – Part 1: Introduction to Trichology </vt:lpstr>
      <vt:lpstr>Day 1 – Part 2: Hair &amp; Scalp Anatomy </vt:lpstr>
      <vt:lpstr> Day 1 – Part 3: Scalp Microbiome &amp; Growth Cycle </vt:lpstr>
      <vt:lpstr>Composition of Hair</vt:lpstr>
      <vt:lpstr>Composition of Hair</vt:lpstr>
      <vt:lpstr>Composition of Hair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Salicylic Acid for Scalp Health</vt:lpstr>
      <vt:lpstr>Salicylic Acid for Scalp Health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Tricocare PH1 Days 1–8</dc:title>
  <dc:subject/>
  <dc:creator/>
  <cp:keywords/>
  <dc:description>generated using python-pptx</dc:description>
  <cp:lastModifiedBy>lorraine hawkins</cp:lastModifiedBy>
  <cp:revision>2</cp:revision>
  <dcterms:created xsi:type="dcterms:W3CDTF">2013-01-27T09:14:16Z</dcterms:created>
  <dcterms:modified xsi:type="dcterms:W3CDTF">2025-12-31T14:53:01Z</dcterms:modified>
  <cp:category/>
</cp:coreProperties>
</file>