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60"/>
  </p:normalViewPr>
  <p:slideViewPr>
    <p:cSldViewPr snapToGrid="0" snapToObjects="1">
      <p:cViewPr varScale="1">
        <p:scale>
          <a:sx n="100" d="100"/>
          <a:sy n="100" d="100"/>
        </p:scale>
        <p:origin x="100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854F42-E663-264F-A67C-61323F22CE65}" type="datetimeFigureOut">
              <a:rPr lang="en-US" smtClean="0"/>
              <a:t>8/22/23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D4D2B7-BDD5-DD40-97DB-5D8E847E6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2728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D4D2B7-BDD5-DD40-97DB-5D8E847E6B4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3630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D96F2-02BD-E71F-EFBD-14FECCF2D3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7172325" cy="3152251"/>
          </a:xfrm>
        </p:spPr>
        <p:txBody>
          <a:bodyPr anchor="b"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E90113-E8E1-4E48-41BC-583802BFC9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20137"/>
            <a:ext cx="7172325" cy="1122363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AC7EE5-BFF0-D779-4261-E239DB450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8/16/23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789492-34ED-FE24-4F29-E4C8F5497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B0C886-7F1E-7BC1-9A9E-B24C2AC2F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C74AEE6-9CA7-5247-DC34-99634247DF50}"/>
              </a:ext>
            </a:extLst>
          </p:cNvPr>
          <p:cNvCxnSpPr>
            <a:cxnSpLocks/>
          </p:cNvCxnSpPr>
          <p:nvPr/>
        </p:nvCxnSpPr>
        <p:spPr>
          <a:xfrm>
            <a:off x="1638300" y="4596637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40007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532FD-157B-437C-E9D5-B66E8B3B1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90A51-A7E8-7A6A-5FD0-F9B250BE41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78C8B8-F999-7D95-435D-17CE6ACCD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8/16/23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427265-C89C-937F-1DA3-F377F6877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6EB89E-4530-3632-3485-F481DB042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436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8056A-761D-1DBC-276A-2A46D153C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1613" y="1355763"/>
            <a:ext cx="6972300" cy="2255794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3904B3-6AC1-19D5-3EAE-2009A3B4CE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4000" y="4921820"/>
            <a:ext cx="5524500" cy="1150934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A2A86D-493D-5BF6-8AA6-F1231E3BA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8/16/23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CCCD76-6623-164A-7BFA-207AFA057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A64312-1F20-5486-62B0-A8BB8829D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703F1C9-9114-4426-6F07-F7FF9CCD5FC4}"/>
              </a:ext>
            </a:extLst>
          </p:cNvPr>
          <p:cNvCxnSpPr>
            <a:cxnSpLocks/>
          </p:cNvCxnSpPr>
          <p:nvPr/>
        </p:nvCxnSpPr>
        <p:spPr>
          <a:xfrm>
            <a:off x="1638300" y="4596637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2778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CFC4C-4D16-E5A8-F934-8B158F6F2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BDE54-F935-945D-3E4F-B659695E84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52500" y="2286002"/>
            <a:ext cx="5067300" cy="389096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8F3710-E06B-05DE-937A-C92E52569E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286001"/>
            <a:ext cx="5067300" cy="389096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302EFD-42D3-11C1-677E-0E478B93F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8/16/23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4C2F08-0D93-B14B-6106-2925DF3E1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A5DE81-F2AB-CCB9-8B68-5E4F31011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5674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2D81B-4E36-1511-E9A7-8FB931B41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1004888"/>
            <a:ext cx="10287000" cy="90011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FA73DE-183B-9473-20AD-2D3BFED843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2501" y="2085959"/>
            <a:ext cx="4886325" cy="590566"/>
          </a:xfrm>
        </p:spPr>
        <p:txBody>
          <a:bodyPr anchor="b">
            <a:normAutofit/>
          </a:bodyPr>
          <a:lstStyle>
            <a:lvl1pPr marL="0" indent="0">
              <a:buNone/>
              <a:defRPr sz="1800" b="0" cap="all" spc="300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70FB3D-60AC-DEF2-4472-31B4E076CB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52501" y="3048001"/>
            <a:ext cx="4886325" cy="322263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6E5BDB-B29C-788F-E2FB-6C154E8FE8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53174" y="2085959"/>
            <a:ext cx="4886325" cy="590566"/>
          </a:xfrm>
        </p:spPr>
        <p:txBody>
          <a:bodyPr anchor="b">
            <a:normAutofit/>
          </a:bodyPr>
          <a:lstStyle>
            <a:lvl1pPr marL="0" indent="0">
              <a:buNone/>
              <a:defRPr sz="1800" b="0" cap="all" spc="300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13FF49-3276-24CA-BC81-FA92C0A930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53174" y="3048000"/>
            <a:ext cx="4886325" cy="322263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8FA1C8-C196-9BE1-F603-3FC17EDD9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8/16/23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B79692-E142-E1D7-AD17-30C5F1365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90FCF2-7B78-2A2A-F878-58335FEA3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C2D0356-1ECF-682B-F87A-811BDD28B2CB}"/>
              </a:ext>
            </a:extLst>
          </p:cNvPr>
          <p:cNvCxnSpPr>
            <a:cxnSpLocks/>
          </p:cNvCxnSpPr>
          <p:nvPr/>
        </p:nvCxnSpPr>
        <p:spPr>
          <a:xfrm>
            <a:off x="1052513" y="2876817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906CA06-9701-E645-C0A5-594B227B288F}"/>
              </a:ext>
            </a:extLst>
          </p:cNvPr>
          <p:cNvCxnSpPr>
            <a:cxnSpLocks/>
          </p:cNvCxnSpPr>
          <p:nvPr/>
        </p:nvCxnSpPr>
        <p:spPr>
          <a:xfrm>
            <a:off x="6435725" y="2876817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3262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214DA-C0D4-E152-7F42-F6352C961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914400"/>
            <a:ext cx="9715500" cy="9906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C2AA04-1E84-460C-F560-A228F930F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8/16/23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AB260E-3910-7D1B-5074-24F5F0AB5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2020F1-A878-9B80-6B4F-7D71406BB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450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7652D6-7AE9-3E3B-5C1B-2B4399B15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8/16/23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A7127E-2A63-6F45-4C40-835843630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56FB79-D9D1-5381-0019-E24F8B4DA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2301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C23B5-7DA9-0E4F-DA39-4624DB8A2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369065"/>
            <a:ext cx="3266536" cy="2312979"/>
          </a:xfrm>
        </p:spPr>
        <p:txBody>
          <a:bodyPr anchor="b">
            <a:no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A5E77-518A-1FB9-B473-E19CADE046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4423" y="987425"/>
            <a:ext cx="5615077" cy="4873625"/>
          </a:xfrm>
        </p:spPr>
        <p:txBody>
          <a:bodyPr anchor="ctr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65344F-7D06-2406-D113-D24587835D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24000" y="3947801"/>
            <a:ext cx="3266536" cy="2382838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2BE708-BAD0-A0A6-9332-9D2179E67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8/16/23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A70050-9362-4EC4-6B73-3A38445B7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CDA991-8608-CAB4-33FA-03D380D2F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1983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7B837-332D-9100-E007-7DE279481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3999" y="1385457"/>
            <a:ext cx="3312543" cy="2304288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0DE983-0B0E-07CC-8C57-4EA529E27D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24423" y="957263"/>
            <a:ext cx="5372189" cy="4962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CAB867-3FC6-5007-61B0-D9B7E5B0CE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24000" y="3958315"/>
            <a:ext cx="3312542" cy="1961473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C7E0F-BFE1-7134-163B-B777970B7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8/16/23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395D0B-4F98-F3BE-FB23-22D8C5D41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FB2E3D-2188-B7A9-0ECE-978147358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1306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F4143-3C41-D626-8F64-36A9C9F1A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914400"/>
            <a:ext cx="9962791" cy="990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52C4FB-B560-A0FC-6435-952981BC9A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52500" y="2285997"/>
            <a:ext cx="9962791" cy="3890965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7CEC4F-0A90-11E2-E43E-B9E765AFB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8/16/23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B2A5B4-1D77-B0AC-49E7-CAE9556B1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396EF9-2FDA-8E87-D546-8840CEBF0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2090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085AB7-38B3-7F80-0B2D-7960F56375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24513" y="1052423"/>
            <a:ext cx="1771292" cy="4917056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ADBDC3-E9EA-8699-B2E4-4C7784455B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06414" y="1052424"/>
            <a:ext cx="7873043" cy="4917056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1DBEDE-3A67-6FCA-25F3-B91F7C82E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8/16/23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9EFF51-4318-20EA-3A3A-8FE203B1A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CD9703-5BAD-DE95-98D9-0F30E7C09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452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5258B98-3BD5-0A20-B0E7-944EAEB2654A}"/>
              </a:ext>
            </a:extLst>
          </p:cNvPr>
          <p:cNvSpPr/>
          <p:nvPr/>
        </p:nvSpPr>
        <p:spPr>
          <a:xfrm>
            <a:off x="0" y="3510612"/>
            <a:ext cx="12192000" cy="3347388"/>
          </a:xfrm>
          <a:prstGeom prst="rect">
            <a:avLst/>
          </a:prstGeom>
          <a:gradFill>
            <a:gsLst>
              <a:gs pos="14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D404C1-E8A5-65FC-C068-21EA0397E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757238"/>
            <a:ext cx="10287000" cy="1147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DCFD78-F171-BA47-AAF3-C6EB75F94C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2500" y="2285997"/>
            <a:ext cx="10287000" cy="38909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65A77-B1AB-D608-A6C5-F0F99B6913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68087" y="4756249"/>
            <a:ext cx="24763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fld id="{9D0D92BC-42A9-434B-8530-ADBF4485E407}" type="datetimeFigureOut">
              <a:rPr lang="en-US" smtClean="0"/>
              <a:pPr/>
              <a:t>8/16/23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E34E5-5E9B-7786-05B5-B93241EE2F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89519" y="1758059"/>
            <a:ext cx="243344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25CD4B-611E-32FA-419D-326099EEF3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39542" y="3246437"/>
            <a:ext cx="5333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fld id="{A0289F9E-9962-4B7B-BA18-A15907CCC6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6427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11" r:id="rId6"/>
    <p:sldLayoutId id="2147483706" r:id="rId7"/>
    <p:sldLayoutId id="2147483707" r:id="rId8"/>
    <p:sldLayoutId id="2147483708" r:id="rId9"/>
    <p:sldLayoutId id="2147483710" r:id="rId10"/>
    <p:sldLayoutId id="2147483709" r:id="rId11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cap="all" spc="6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56032" indent="0" algn="l" defTabSz="914400" rtl="0" eaLnBrk="1" latinLnBrk="0" hangingPunct="1">
        <a:lnSpc>
          <a:spcPct val="120000"/>
        </a:lnSpc>
        <a:spcBef>
          <a:spcPts val="500"/>
        </a:spcBef>
        <a:buFontTx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521208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9496" indent="0" algn="l" defTabSz="914400" rtl="0" eaLnBrk="1" latinLnBrk="0" hangingPunct="1">
        <a:lnSpc>
          <a:spcPct val="120000"/>
        </a:lnSpc>
        <a:spcBef>
          <a:spcPts val="500"/>
        </a:spcBef>
        <a:buFontTx/>
        <a:buNone/>
        <a:defRPr sz="12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832104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760E4C7-47B8-4356-ABCA-CC9C79E2D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splash of colours on a white surface">
            <a:extLst>
              <a:ext uri="{FF2B5EF4-FFF2-40B4-BE49-F238E27FC236}">
                <a16:creationId xmlns:a16="http://schemas.microsoft.com/office/drawing/2014/main" id="{02AF5310-D0C0-FEB0-970F-2EB2DDDD3BC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t="2406" b="22611"/>
          <a:stretch/>
        </p:blipFill>
        <p:spPr>
          <a:xfrm>
            <a:off x="20" y="1571"/>
            <a:ext cx="12191980" cy="6856429"/>
          </a:xfrm>
          <a:prstGeom prst="rect">
            <a:avLst/>
          </a:pr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EB96CAC-5A33-8303-9C73-1B3220A5D3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7524" y="1250342"/>
            <a:ext cx="4357316" cy="4357316"/>
          </a:xfrm>
          <a:custGeom>
            <a:avLst/>
            <a:gdLst>
              <a:gd name="connsiteX0" fmla="*/ 2178658 w 4357316"/>
              <a:gd name="connsiteY0" fmla="*/ 0 h 4357316"/>
              <a:gd name="connsiteX1" fmla="*/ 4357316 w 4357316"/>
              <a:gd name="connsiteY1" fmla="*/ 2178658 h 4357316"/>
              <a:gd name="connsiteX2" fmla="*/ 2178658 w 4357316"/>
              <a:gd name="connsiteY2" fmla="*/ 4357316 h 4357316"/>
              <a:gd name="connsiteX3" fmla="*/ 0 w 4357316"/>
              <a:gd name="connsiteY3" fmla="*/ 2178658 h 4357316"/>
              <a:gd name="connsiteX4" fmla="*/ 2178658 w 4357316"/>
              <a:gd name="connsiteY4" fmla="*/ 0 h 435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57316" h="4357316">
                <a:moveTo>
                  <a:pt x="2178658" y="0"/>
                </a:moveTo>
                <a:cubicBezTo>
                  <a:pt x="3381898" y="0"/>
                  <a:pt x="4357316" y="975418"/>
                  <a:pt x="4357316" y="2178658"/>
                </a:cubicBezTo>
                <a:cubicBezTo>
                  <a:pt x="4357316" y="3381898"/>
                  <a:pt x="3381898" y="4357316"/>
                  <a:pt x="2178658" y="4357316"/>
                </a:cubicBezTo>
                <a:cubicBezTo>
                  <a:pt x="975418" y="4357316"/>
                  <a:pt x="0" y="3381898"/>
                  <a:pt x="0" y="2178658"/>
                </a:cubicBezTo>
                <a:cubicBezTo>
                  <a:pt x="0" y="975418"/>
                  <a:pt x="975418" y="0"/>
                  <a:pt x="217865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20000"/>
                </a:schemeClr>
              </a:gs>
              <a:gs pos="7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EF3B5B-1E14-B753-9F96-AAFCC14F41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2211977"/>
            <a:ext cx="3535679" cy="1450961"/>
          </a:xfrm>
        </p:spPr>
        <p:txBody>
          <a:bodyPr anchor="b">
            <a:normAutofit/>
          </a:bodyPr>
          <a:lstStyle/>
          <a:p>
            <a:pPr algn="ctr"/>
            <a:r>
              <a:rPr lang="en-US" dirty="0"/>
              <a:t>Common skin conditions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454BE46-239F-BB50-4643-61FF5943B7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562423" y="395142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0901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6C33C-F089-7686-107A-FAE411F5D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Conditions caused by </a:t>
            </a:r>
            <a:r>
              <a:rPr lang="en-US" dirty="0">
                <a:solidFill>
                  <a:srgbClr val="FF0000"/>
                </a:solidFill>
              </a:rPr>
              <a:t>pathogenic, hormonal &amp; autoimmune origin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29033A9-4A05-1D45-9897-1BCD91479A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Allergic contact dermatitis (ACD)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8CC04E4-78F9-BD5A-1492-67220B4A715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Signs</a:t>
            </a:r>
            <a:r>
              <a:rPr lang="en-US" dirty="0"/>
              <a:t>: Redness, heat, swelling, pain.</a:t>
            </a:r>
          </a:p>
          <a:p>
            <a:r>
              <a:rPr lang="en-US" b="1" dirty="0"/>
              <a:t>Symptoms:</a:t>
            </a:r>
            <a:r>
              <a:rPr lang="en-US" dirty="0"/>
              <a:t> Itchy, red, blistered (</a:t>
            </a:r>
            <a:r>
              <a:rPr lang="en-US" sz="1400" dirty="0"/>
              <a:t>type 4 reaction</a:t>
            </a:r>
            <a:r>
              <a:rPr lang="en-US" dirty="0"/>
              <a:t>)</a:t>
            </a:r>
          </a:p>
          <a:p>
            <a:r>
              <a:rPr lang="en-US" b="1" dirty="0"/>
              <a:t>Aetiology:</a:t>
            </a:r>
            <a:r>
              <a:rPr lang="en-US" dirty="0"/>
              <a:t> Repeated exposure to small doses of an allergen, overreaction of the body’s autoimmune system.</a:t>
            </a:r>
          </a:p>
          <a:p>
            <a:r>
              <a:rPr lang="en-US" b="1" dirty="0"/>
              <a:t>Prognosis:</a:t>
            </a:r>
            <a:r>
              <a:rPr lang="en-US" dirty="0"/>
              <a:t> Once the body is sensitised its for life, avoid contact with substance. </a:t>
            </a:r>
            <a:r>
              <a:rPr lang="en-US" sz="2400" b="1" dirty="0">
                <a:solidFill>
                  <a:srgbClr val="00B050"/>
                </a:solidFill>
              </a:rPr>
              <a:t>*</a:t>
            </a:r>
            <a:endParaRPr lang="en-US" sz="2400" b="1" dirty="0"/>
          </a:p>
          <a:p>
            <a:endParaRPr lang="en-US" b="1" dirty="0"/>
          </a:p>
          <a:p>
            <a:endParaRPr lang="en-US" b="1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BF0AC0A-2577-31A4-8932-B627986ED7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Psoriasis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C2AA763-73C3-F043-43C0-A6C5985D44E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Signs: </a:t>
            </a:r>
            <a:r>
              <a:rPr lang="en-US" dirty="0"/>
              <a:t>Pink/silvery scaled plaques often affecting the posterior hairline and above ears.</a:t>
            </a:r>
          </a:p>
          <a:p>
            <a:r>
              <a:rPr lang="en-US" b="1" dirty="0"/>
              <a:t>Symptoms: </a:t>
            </a:r>
            <a:r>
              <a:rPr lang="en-US" dirty="0"/>
              <a:t>Tightness of scalp, itchiness, underlying inflammation.</a:t>
            </a:r>
          </a:p>
          <a:p>
            <a:r>
              <a:rPr lang="en-US" b="1" dirty="0"/>
              <a:t>Aetiology:</a:t>
            </a:r>
            <a:r>
              <a:rPr lang="en-US" dirty="0"/>
              <a:t> Genetic, autoimmune, stress-related.</a:t>
            </a:r>
          </a:p>
          <a:p>
            <a:r>
              <a:rPr lang="en-US" b="1" dirty="0"/>
              <a:t>Prognosis:</a:t>
            </a:r>
            <a:r>
              <a:rPr lang="en-US" dirty="0"/>
              <a:t> May be treated but not cured. </a:t>
            </a:r>
            <a:r>
              <a:rPr lang="en-US" sz="2800" dirty="0">
                <a:solidFill>
                  <a:srgbClr val="00B050"/>
                </a:solidFill>
              </a:rPr>
              <a:t>*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832645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2C0776-CA41-5CE0-8060-137906E016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2501" y="393701"/>
            <a:ext cx="4886325" cy="596899"/>
          </a:xfrm>
        </p:spPr>
        <p:txBody>
          <a:bodyPr/>
          <a:lstStyle/>
          <a:p>
            <a:r>
              <a:rPr lang="en-US" dirty="0"/>
              <a:t>Tinea capitis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77FC12-5799-AD26-27A3-5F2D85396A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52501" y="1384300"/>
            <a:ext cx="4886325" cy="4886331"/>
          </a:xfrm>
        </p:spPr>
        <p:txBody>
          <a:bodyPr/>
          <a:lstStyle/>
          <a:p>
            <a:r>
              <a:rPr lang="en-US" b="1" dirty="0"/>
              <a:t>Signs:</a:t>
            </a:r>
            <a:r>
              <a:rPr lang="en-US" dirty="0"/>
              <a:t> </a:t>
            </a:r>
            <a:r>
              <a:rPr lang="en-GB" b="0" i="0" u="none" strike="noStrike" dirty="0">
                <a:solidFill>
                  <a:srgbClr val="313537"/>
                </a:solidFill>
                <a:effectLst/>
              </a:rPr>
              <a:t>Ringworm of the scalp can present in various ways: Dry scaling - like dandruff but usually with moth-eaten hair loss – </a:t>
            </a:r>
            <a:r>
              <a:rPr lang="en-GB" b="0" i="0" strike="noStrike" dirty="0">
                <a:solidFill>
                  <a:schemeClr val="accent4">
                    <a:lumMod val="75000"/>
                  </a:schemeClr>
                </a:solidFill>
                <a:effectLst/>
              </a:rPr>
              <a:t>highly contagious.</a:t>
            </a:r>
          </a:p>
          <a:p>
            <a:r>
              <a:rPr lang="en-GB" b="1" dirty="0">
                <a:solidFill>
                  <a:srgbClr val="313537"/>
                </a:solidFill>
              </a:rPr>
              <a:t>Symptoms: </a:t>
            </a:r>
            <a:r>
              <a:rPr lang="en-GB" dirty="0">
                <a:solidFill>
                  <a:srgbClr val="313537"/>
                </a:solidFill>
              </a:rPr>
              <a:t>Itchiness, erythema (redness) and soreness.</a:t>
            </a:r>
          </a:p>
          <a:p>
            <a:r>
              <a:rPr lang="en-GB" b="1" dirty="0">
                <a:solidFill>
                  <a:srgbClr val="313537"/>
                </a:solidFill>
              </a:rPr>
              <a:t>Aetiology:</a:t>
            </a:r>
            <a:r>
              <a:rPr lang="en-GB" dirty="0">
                <a:solidFill>
                  <a:srgbClr val="313537"/>
                </a:solidFill>
              </a:rPr>
              <a:t> Tinea is a group of diseases caused by fungus.</a:t>
            </a:r>
          </a:p>
          <a:p>
            <a:r>
              <a:rPr lang="en-GB" b="1" dirty="0">
                <a:solidFill>
                  <a:srgbClr val="313537"/>
                </a:solidFill>
              </a:rPr>
              <a:t>Prognosis:</a:t>
            </a:r>
            <a:r>
              <a:rPr lang="en-GB" dirty="0">
                <a:solidFill>
                  <a:srgbClr val="313537"/>
                </a:solidFill>
              </a:rPr>
              <a:t> GP referral </a:t>
            </a:r>
            <a:r>
              <a:rPr lang="en-GB" dirty="0">
                <a:solidFill>
                  <a:srgbClr val="0070C0"/>
                </a:solidFill>
              </a:rPr>
              <a:t>**</a:t>
            </a:r>
            <a:r>
              <a:rPr lang="en-GB" dirty="0">
                <a:solidFill>
                  <a:srgbClr val="313537"/>
                </a:solidFill>
              </a:rPr>
              <a:t>.  Positive prognosis once the infection is treated.</a:t>
            </a:r>
            <a:endParaRPr lang="en-GB" b="1" dirty="0">
              <a:solidFill>
                <a:srgbClr val="313537"/>
              </a:solidFill>
            </a:endParaRPr>
          </a:p>
          <a:p>
            <a:endParaRPr lang="en-US" b="1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22F621-CB1C-A55C-6F6A-15A6CBCF3F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53174" y="393701"/>
            <a:ext cx="4886325" cy="596899"/>
          </a:xfrm>
        </p:spPr>
        <p:txBody>
          <a:bodyPr/>
          <a:lstStyle/>
          <a:p>
            <a:r>
              <a:rPr lang="en-US" dirty="0"/>
              <a:t>Folliculitis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03092C-B4DA-DB41-F333-7916DCC35B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53174" y="1384299"/>
            <a:ext cx="4886325" cy="4886331"/>
          </a:xfrm>
        </p:spPr>
        <p:txBody>
          <a:bodyPr/>
          <a:lstStyle/>
          <a:p>
            <a:r>
              <a:rPr lang="en-US" b="1" dirty="0"/>
              <a:t>Signs: </a:t>
            </a:r>
            <a:r>
              <a:rPr lang="en-US" dirty="0"/>
              <a:t>Inflammation of the hair follicle.</a:t>
            </a:r>
          </a:p>
          <a:p>
            <a:r>
              <a:rPr lang="en-US" b="1" dirty="0"/>
              <a:t>Symptoms: </a:t>
            </a:r>
            <a:r>
              <a:rPr lang="en-US" dirty="0"/>
              <a:t>Itchiness, burning and redness within the follicle.</a:t>
            </a:r>
          </a:p>
          <a:p>
            <a:endParaRPr lang="en-US" b="1" dirty="0"/>
          </a:p>
          <a:p>
            <a:r>
              <a:rPr lang="en-US" b="1" dirty="0"/>
              <a:t>Aetiology: </a:t>
            </a:r>
            <a:r>
              <a:rPr lang="en-US" dirty="0"/>
              <a:t>Bacterial infection Folliculitis </a:t>
            </a:r>
            <a:r>
              <a:rPr lang="en-US" dirty="0" err="1"/>
              <a:t>Decalvans</a:t>
            </a:r>
            <a:r>
              <a:rPr lang="en-US" dirty="0"/>
              <a:t>.</a:t>
            </a:r>
          </a:p>
          <a:p>
            <a:r>
              <a:rPr lang="en-US" b="1" dirty="0"/>
              <a:t>Prognosis:</a:t>
            </a:r>
            <a:r>
              <a:rPr lang="en-US" dirty="0"/>
              <a:t> GP referral </a:t>
            </a:r>
            <a:r>
              <a:rPr lang="en-US" dirty="0">
                <a:solidFill>
                  <a:srgbClr val="0070C0"/>
                </a:solidFill>
              </a:rPr>
              <a:t>**</a:t>
            </a:r>
            <a:endParaRPr lang="en-US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56322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A47B89-26CA-B0C7-7F0F-70C473883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2501" y="444501"/>
            <a:ext cx="4886325" cy="571500"/>
          </a:xfrm>
        </p:spPr>
        <p:txBody>
          <a:bodyPr/>
          <a:lstStyle/>
          <a:p>
            <a:r>
              <a:rPr lang="en-US" dirty="0"/>
              <a:t>Neurodermatitis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5EBC8F-D391-44AB-52D3-5DC42027C1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52501" y="1511300"/>
            <a:ext cx="4886325" cy="4759331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Signs:</a:t>
            </a:r>
            <a:r>
              <a:rPr lang="en-US" dirty="0"/>
              <a:t> </a:t>
            </a:r>
            <a:r>
              <a:rPr lang="en-GB" b="0" i="0" u="none" strike="noStrike" dirty="0">
                <a:solidFill>
                  <a:srgbClr val="313537"/>
                </a:solidFill>
                <a:effectLst/>
              </a:rPr>
              <a:t>A habit of scratching, results in thickened red plaques on the anterior or posterior hair margin</a:t>
            </a:r>
            <a:r>
              <a:rPr lang="en-GB" b="0" i="0" u="none" strike="noStrike" dirty="0">
                <a:solidFill>
                  <a:srgbClr val="313537"/>
                </a:solidFill>
                <a:effectLst/>
                <a:latin typeface="Roboto" panose="02000000000000000000" pitchFamily="2" charset="0"/>
              </a:rPr>
              <a:t>.</a:t>
            </a:r>
          </a:p>
          <a:p>
            <a:endParaRPr lang="en-GB" dirty="0">
              <a:solidFill>
                <a:srgbClr val="313537"/>
              </a:solidFill>
              <a:latin typeface="Roboto" panose="02000000000000000000" pitchFamily="2" charset="0"/>
            </a:endParaRPr>
          </a:p>
          <a:p>
            <a:r>
              <a:rPr lang="en-GB" b="1" dirty="0">
                <a:solidFill>
                  <a:srgbClr val="313537"/>
                </a:solidFill>
              </a:rPr>
              <a:t>Symptoms: </a:t>
            </a:r>
            <a:r>
              <a:rPr lang="en-GB" dirty="0">
                <a:solidFill>
                  <a:srgbClr val="313537"/>
                </a:solidFill>
              </a:rPr>
              <a:t>Intense itching.</a:t>
            </a:r>
          </a:p>
          <a:p>
            <a:r>
              <a:rPr lang="en-GB" b="1" dirty="0">
                <a:solidFill>
                  <a:srgbClr val="313537"/>
                </a:solidFill>
              </a:rPr>
              <a:t>Aetiology:</a:t>
            </a:r>
            <a:r>
              <a:rPr lang="en-GB" dirty="0">
                <a:solidFill>
                  <a:srgbClr val="313537"/>
                </a:solidFill>
              </a:rPr>
              <a:t> Initial irritation exacerbated by rubbing or scratching, an unnoticed habit.</a:t>
            </a:r>
          </a:p>
          <a:p>
            <a:r>
              <a:rPr lang="en-GB" b="1" dirty="0">
                <a:solidFill>
                  <a:srgbClr val="313537"/>
                </a:solidFill>
              </a:rPr>
              <a:t>Prognosis</a:t>
            </a:r>
            <a:r>
              <a:rPr lang="en-GB" dirty="0">
                <a:solidFill>
                  <a:srgbClr val="313537"/>
                </a:solidFill>
              </a:rPr>
              <a:t>: Break the habit then healing can occur.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1B749B-8EF3-80B8-AA4E-FEC813E47A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53174" y="444501"/>
            <a:ext cx="4886325" cy="571500"/>
          </a:xfrm>
        </p:spPr>
        <p:txBody>
          <a:bodyPr/>
          <a:lstStyle/>
          <a:p>
            <a:r>
              <a:rPr lang="en-US" dirty="0"/>
              <a:t>MPHL (Male patterned hair loss)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06A67B-A7D7-C7BA-00F8-3087EDB6CF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53174" y="1511299"/>
            <a:ext cx="4886325" cy="4759331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Signs:</a:t>
            </a:r>
            <a:r>
              <a:rPr lang="en-US" dirty="0"/>
              <a:t> Common hair loss, androgenic alopecia (hormonal) that beings in men after puberty.</a:t>
            </a:r>
          </a:p>
          <a:p>
            <a:r>
              <a:rPr lang="en-US" b="1" dirty="0"/>
              <a:t>Symptoms:</a:t>
            </a:r>
            <a:r>
              <a:rPr lang="en-US" dirty="0"/>
              <a:t> Asymptomatic.</a:t>
            </a:r>
          </a:p>
          <a:p>
            <a:endParaRPr lang="en-US" dirty="0"/>
          </a:p>
          <a:p>
            <a:r>
              <a:rPr lang="en-US" b="1" dirty="0"/>
              <a:t>Aetiology:</a:t>
            </a:r>
            <a:r>
              <a:rPr lang="en-US" dirty="0"/>
              <a:t> </a:t>
            </a:r>
            <a:r>
              <a:rPr lang="en-GB" b="0" i="0" u="none" strike="noStrike" dirty="0">
                <a:solidFill>
                  <a:srgbClr val="313537"/>
                </a:solidFill>
                <a:effectLst/>
              </a:rPr>
              <a:t>MPHL develops in the presence of the effect of</a:t>
            </a:r>
            <a:r>
              <a:rPr lang="en-GB" b="1" i="0" u="none" strike="noStrike" dirty="0">
                <a:solidFill>
                  <a:srgbClr val="313537"/>
                </a:solidFill>
                <a:effectLst/>
              </a:rPr>
              <a:t> </a:t>
            </a:r>
            <a:r>
              <a:rPr lang="en-GB" b="1" i="0" u="none" strike="noStrike" dirty="0">
                <a:solidFill>
                  <a:srgbClr val="FF0000"/>
                </a:solidFill>
                <a:effectLst/>
              </a:rPr>
              <a:t>dihydrotestosterone (DHT)</a:t>
            </a:r>
            <a:r>
              <a:rPr lang="en-GB" b="1" i="0" u="none" strike="noStrike" dirty="0">
                <a:solidFill>
                  <a:srgbClr val="313537"/>
                </a:solidFill>
                <a:effectLst/>
              </a:rPr>
              <a:t>. </a:t>
            </a:r>
            <a:r>
              <a:rPr lang="en-GB" b="0" i="0" u="none" strike="noStrike" dirty="0">
                <a:solidFill>
                  <a:srgbClr val="313537"/>
                </a:solidFill>
                <a:effectLst/>
              </a:rPr>
              <a:t>This leads to MPHL whose progression is charted using the</a:t>
            </a:r>
            <a:r>
              <a:rPr lang="en-GB" b="1" i="0" u="none" strike="noStrike" dirty="0">
                <a:solidFill>
                  <a:srgbClr val="313537"/>
                </a:solidFill>
                <a:effectLst/>
              </a:rPr>
              <a:t> </a:t>
            </a:r>
            <a:r>
              <a:rPr lang="en-GB" b="1" i="0" u="none" strike="noStrike" dirty="0">
                <a:solidFill>
                  <a:srgbClr val="FF0000"/>
                </a:solidFill>
                <a:effectLst/>
              </a:rPr>
              <a:t>Hamilton-Norwood scale.</a:t>
            </a:r>
            <a:endParaRPr lang="en-GB" b="1" dirty="0">
              <a:solidFill>
                <a:srgbClr val="FF0000"/>
              </a:solidFill>
            </a:endParaRPr>
          </a:p>
          <a:p>
            <a:r>
              <a:rPr lang="en-GB" b="1" dirty="0"/>
              <a:t>Prognosis:</a:t>
            </a:r>
            <a:r>
              <a:rPr lang="en-GB" dirty="0"/>
              <a:t> Progressive condition.  Effective treatment includes </a:t>
            </a:r>
            <a:r>
              <a:rPr lang="en-GB" dirty="0">
                <a:solidFill>
                  <a:srgbClr val="FF0000"/>
                </a:solidFill>
              </a:rPr>
              <a:t>Minoxidil </a:t>
            </a:r>
            <a:r>
              <a:rPr lang="en-GB" dirty="0"/>
              <a:t>&amp; </a:t>
            </a:r>
            <a:r>
              <a:rPr lang="en-GB" b="0" i="0" u="none" strike="noStrike" dirty="0">
                <a:solidFill>
                  <a:srgbClr val="FF0000"/>
                </a:solidFill>
                <a:effectLst/>
              </a:rPr>
              <a:t>Finasteride </a:t>
            </a:r>
            <a:r>
              <a:rPr lang="en-GB" b="0" i="0" u="none" strike="noStrike" dirty="0">
                <a:solidFill>
                  <a:srgbClr val="313537"/>
                </a:solidFill>
                <a:effectLst/>
              </a:rPr>
              <a:t>along with various Hair replacement /transplantation Finasteride tablets (type II 5-alpha-reductase inhibitor),</a:t>
            </a:r>
            <a:r>
              <a:rPr lang="en-GB" b="0" i="0" u="none" strike="noStrike" dirty="0">
                <a:solidFill>
                  <a:srgbClr val="FF0000"/>
                </a:solidFill>
                <a:effectLst/>
              </a:rPr>
              <a:t>Dutasteride</a:t>
            </a:r>
            <a:r>
              <a:rPr lang="en-GB" b="0" i="0" u="none" strike="noStrike" dirty="0">
                <a:solidFill>
                  <a:srgbClr val="FF0000"/>
                </a:solidFill>
                <a:effectLst/>
                <a:latin typeface="Roboto" panose="02000000000000000000" pitchFamily="2" charset="0"/>
              </a:rPr>
              <a:t>.</a:t>
            </a:r>
            <a:endParaRPr lang="en-US" b="1" dirty="0">
              <a:solidFill>
                <a:srgbClr val="FF0000"/>
              </a:solidFill>
            </a:endParaRPr>
          </a:p>
          <a:p>
            <a:endParaRPr lang="en-US" b="1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3691409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FA86F8-9DBC-3424-5F2E-0F8552BEA6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2501" y="587369"/>
            <a:ext cx="4886325" cy="631831"/>
          </a:xfrm>
        </p:spPr>
        <p:txBody>
          <a:bodyPr/>
          <a:lstStyle/>
          <a:p>
            <a:r>
              <a:rPr lang="en-US" dirty="0"/>
              <a:t>Seborrheic Dermatitis (</a:t>
            </a:r>
            <a:r>
              <a:rPr lang="en-US" dirty="0" err="1"/>
              <a:t>seb</a:t>
            </a:r>
            <a:r>
              <a:rPr lang="en-US" dirty="0"/>
              <a:t>-or-</a:t>
            </a:r>
            <a:r>
              <a:rPr lang="en-US" dirty="0" err="1"/>
              <a:t>riac</a:t>
            </a:r>
            <a:r>
              <a:rPr lang="en-US" dirty="0"/>
              <a:t>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0CF9DD-81BC-6468-2C1D-D37F422FA5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52501" y="1587500"/>
            <a:ext cx="4886325" cy="4683131"/>
          </a:xfrm>
        </p:spPr>
        <p:txBody>
          <a:bodyPr/>
          <a:lstStyle/>
          <a:p>
            <a:r>
              <a:rPr lang="en-US" b="1" dirty="0"/>
              <a:t>Signs:</a:t>
            </a:r>
            <a:r>
              <a:rPr lang="en-US" dirty="0"/>
              <a:t> Red, yellow, flaky scales.  Associated signs of nasal folds and eyebrows.</a:t>
            </a:r>
          </a:p>
          <a:p>
            <a:r>
              <a:rPr lang="en-US" b="1" dirty="0"/>
              <a:t>Symptoms:</a:t>
            </a:r>
            <a:r>
              <a:rPr lang="en-US" dirty="0"/>
              <a:t> Inflammation and soreness.</a:t>
            </a:r>
          </a:p>
          <a:p>
            <a:r>
              <a:rPr lang="en-US" b="1" dirty="0"/>
              <a:t>Aetiology:</a:t>
            </a:r>
            <a:r>
              <a:rPr lang="en-US" dirty="0"/>
              <a:t> Genetic/yeast infection/ stress/ temperature change (worse in winter)</a:t>
            </a:r>
          </a:p>
          <a:p>
            <a:r>
              <a:rPr lang="en-US" b="1" dirty="0"/>
              <a:t>Prognosis:</a:t>
            </a:r>
            <a:r>
              <a:rPr lang="en-US" dirty="0"/>
              <a:t> Can be managed but is a long-term, recurring condition.</a:t>
            </a:r>
            <a:endParaRPr lang="en-US" b="1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9F3B12-1D23-D078-3618-949C447C71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53174" y="587369"/>
            <a:ext cx="4886325" cy="631831"/>
          </a:xfrm>
        </p:spPr>
        <p:txBody>
          <a:bodyPr/>
          <a:lstStyle/>
          <a:p>
            <a:r>
              <a:rPr lang="en-US" dirty="0"/>
              <a:t>Alopecia areata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F9651D-9EC3-0A58-477F-ABE0205631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53174" y="1587499"/>
            <a:ext cx="4886325" cy="4683131"/>
          </a:xfrm>
        </p:spPr>
        <p:txBody>
          <a:bodyPr/>
          <a:lstStyle/>
          <a:p>
            <a:r>
              <a:rPr lang="en-US" b="1" dirty="0"/>
              <a:t>Signs:</a:t>
            </a:r>
            <a:r>
              <a:rPr lang="en-US" dirty="0"/>
              <a:t> </a:t>
            </a:r>
            <a:r>
              <a:rPr lang="en-GB" b="0" i="0" u="none" strike="noStrike" dirty="0">
                <a:solidFill>
                  <a:srgbClr val="313537"/>
                </a:solidFill>
                <a:effectLst/>
              </a:rPr>
              <a:t>Common cause of patchy hair loss characterised by a </a:t>
            </a:r>
            <a:r>
              <a:rPr lang="en-GB" b="1" i="0" u="none" strike="noStrike" dirty="0">
                <a:solidFill>
                  <a:srgbClr val="FF0000"/>
                </a:solidFill>
                <a:effectLst/>
              </a:rPr>
              <a:t>well-demarcated shiny patch</a:t>
            </a:r>
            <a:r>
              <a:rPr lang="en-GB" b="0" i="0" u="none" strike="noStrike" dirty="0">
                <a:solidFill>
                  <a:srgbClr val="FF0000"/>
                </a:solidFill>
                <a:effectLst/>
              </a:rPr>
              <a:t> </a:t>
            </a:r>
            <a:r>
              <a:rPr lang="en-GB" b="0" i="0" u="none" strike="noStrike" dirty="0">
                <a:solidFill>
                  <a:srgbClr val="313537"/>
                </a:solidFill>
                <a:effectLst/>
              </a:rPr>
              <a:t>of non-scarring hair loss. Associated signs include short, exclamation hairs at the periphery of the lesion.</a:t>
            </a:r>
          </a:p>
          <a:p>
            <a:r>
              <a:rPr lang="en-GB" b="1" dirty="0">
                <a:solidFill>
                  <a:srgbClr val="313537"/>
                </a:solidFill>
              </a:rPr>
              <a:t>Symptoms: </a:t>
            </a:r>
            <a:r>
              <a:rPr lang="en-GB" dirty="0">
                <a:solidFill>
                  <a:srgbClr val="313537"/>
                </a:solidFill>
              </a:rPr>
              <a:t>Asymptomatic</a:t>
            </a:r>
            <a:r>
              <a:rPr lang="en-GB" dirty="0">
                <a:solidFill>
                  <a:srgbClr val="313537"/>
                </a:solidFill>
                <a:latin typeface="Roboto" panose="02000000000000000000" pitchFamily="2" charset="0"/>
              </a:rPr>
              <a:t>.</a:t>
            </a:r>
          </a:p>
          <a:p>
            <a:r>
              <a:rPr lang="en-GB" b="1" dirty="0">
                <a:solidFill>
                  <a:srgbClr val="313537"/>
                </a:solidFill>
              </a:rPr>
              <a:t>Aetiology</a:t>
            </a:r>
            <a:r>
              <a:rPr lang="en-GB" dirty="0">
                <a:solidFill>
                  <a:srgbClr val="313537"/>
                </a:solidFill>
              </a:rPr>
              <a:t>: Autoimmune disease directed at the hair follicles.</a:t>
            </a:r>
          </a:p>
          <a:p>
            <a:r>
              <a:rPr lang="en-GB" b="1" dirty="0">
                <a:solidFill>
                  <a:srgbClr val="313537"/>
                </a:solidFill>
              </a:rPr>
              <a:t>Prognosis:</a:t>
            </a:r>
            <a:r>
              <a:rPr lang="en-GB" dirty="0">
                <a:solidFill>
                  <a:srgbClr val="313537"/>
                </a:solidFill>
              </a:rPr>
              <a:t> Unpredictable, normally resolves over time.  Nail pitting, family history,  autoimmune disease, can happen at any age.</a:t>
            </a:r>
            <a:endParaRPr lang="en-GB" b="1" dirty="0">
              <a:solidFill>
                <a:srgbClr val="313537"/>
              </a:solidFill>
            </a:endParaRP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2180659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8A66DC-CA4D-CD44-6A17-9B02B8FCB6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2501" y="587369"/>
            <a:ext cx="4886325" cy="606431"/>
          </a:xfrm>
        </p:spPr>
        <p:txBody>
          <a:bodyPr/>
          <a:lstStyle/>
          <a:p>
            <a:r>
              <a:rPr lang="en-US" dirty="0" err="1"/>
              <a:t>Fphl</a:t>
            </a:r>
            <a:r>
              <a:rPr lang="en-US" dirty="0"/>
              <a:t> Female pattern hair loss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748B6D-9FA2-C200-FEAD-CC192E4F35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52501" y="1498600"/>
            <a:ext cx="4886325" cy="4772031"/>
          </a:xfrm>
        </p:spPr>
        <p:txBody>
          <a:bodyPr/>
          <a:lstStyle/>
          <a:p>
            <a:r>
              <a:rPr lang="en-US" b="1" dirty="0"/>
              <a:t>Signs:</a:t>
            </a:r>
            <a:r>
              <a:rPr lang="en-US" dirty="0"/>
              <a:t> Same as MPHL involves miniaturization of the hair follicle.  Often presents at the inner frontal hairline.</a:t>
            </a:r>
          </a:p>
          <a:p>
            <a:r>
              <a:rPr lang="en-US" b="1" dirty="0"/>
              <a:t>Symptoms:</a:t>
            </a:r>
            <a:r>
              <a:rPr lang="en-US" dirty="0"/>
              <a:t> Asymptomatic.</a:t>
            </a:r>
          </a:p>
          <a:p>
            <a:r>
              <a:rPr lang="en-US" b="1" dirty="0"/>
              <a:t>Aetiology: </a:t>
            </a:r>
            <a:r>
              <a:rPr lang="en-US" dirty="0"/>
              <a:t>Genetically driven.  Progression is charted using </a:t>
            </a:r>
            <a:r>
              <a:rPr lang="en-US" dirty="0">
                <a:solidFill>
                  <a:srgbClr val="FF0000"/>
                </a:solidFill>
              </a:rPr>
              <a:t>the Ludwig scale of loss</a:t>
            </a:r>
            <a:r>
              <a:rPr lang="en-US" dirty="0"/>
              <a:t>.</a:t>
            </a:r>
          </a:p>
          <a:p>
            <a:r>
              <a:rPr lang="en-US" b="1" dirty="0"/>
              <a:t>Prognosis:</a:t>
            </a:r>
            <a:r>
              <a:rPr lang="en-US" dirty="0"/>
              <a:t> No cure.  Treatment available includes minoxidil solution.  It is important to manage expectations.</a:t>
            </a:r>
          </a:p>
          <a:p>
            <a:endParaRPr lang="en-US" b="1" dirty="0"/>
          </a:p>
          <a:p>
            <a:pPr marL="0" indent="0">
              <a:buNone/>
            </a:pPr>
            <a:endParaRPr lang="en-US" b="1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60B52B-D0BD-6ECC-F5BB-853A49EB55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53174" y="587369"/>
            <a:ext cx="4886325" cy="606431"/>
          </a:xfrm>
        </p:spPr>
        <p:txBody>
          <a:bodyPr/>
          <a:lstStyle/>
          <a:p>
            <a:r>
              <a:rPr lang="en-US" dirty="0"/>
              <a:t>Telogen effluvium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737067-F304-A224-21F5-9A97C09F48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53174" y="1498599"/>
            <a:ext cx="4886325" cy="4772031"/>
          </a:xfrm>
        </p:spPr>
        <p:txBody>
          <a:bodyPr/>
          <a:lstStyle/>
          <a:p>
            <a:r>
              <a:rPr lang="en-US" b="1" dirty="0"/>
              <a:t>Signs:</a:t>
            </a:r>
            <a:r>
              <a:rPr lang="en-US" dirty="0"/>
              <a:t> Sudden loss of hair, excess hair shedding.</a:t>
            </a:r>
          </a:p>
          <a:p>
            <a:r>
              <a:rPr lang="en-US" b="1" dirty="0"/>
              <a:t>Symptoms:</a:t>
            </a:r>
            <a:r>
              <a:rPr lang="en-US" dirty="0"/>
              <a:t> Asymptomatic.</a:t>
            </a:r>
          </a:p>
          <a:p>
            <a:endParaRPr lang="en-US" dirty="0"/>
          </a:p>
          <a:p>
            <a:r>
              <a:rPr lang="en-US" b="1" dirty="0"/>
              <a:t>Aetiology:</a:t>
            </a:r>
            <a:r>
              <a:rPr lang="en-US" dirty="0"/>
              <a:t> Postpartum/ Febrile illness (high temp)/ Blood loss/ Drugs/meds/ Endocrine disorders (hormonal)/ Metabolic/nutritional.</a:t>
            </a:r>
          </a:p>
          <a:p>
            <a:r>
              <a:rPr lang="en-US" b="1" dirty="0"/>
              <a:t>Prognosis:</a:t>
            </a:r>
            <a:r>
              <a:rPr lang="en-US" dirty="0"/>
              <a:t> Normally good once treatment of the cause is implemented.  Treatment is the treatment of the cause.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5700643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CE26B-73A8-ACA6-DB1D-726458AEB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1004888"/>
            <a:ext cx="10287000" cy="45719"/>
          </a:xfrm>
        </p:spPr>
        <p:txBody>
          <a:bodyPr>
            <a:normAutofit fontScale="90000"/>
          </a:bodyPr>
          <a:lstStyle/>
          <a:p>
            <a:r>
              <a:rPr lang="en-US" dirty="0"/>
              <a:t>Conditions caused by physical damage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724DBC-BB10-FE10-A15E-E46A434C4C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2501" y="1391919"/>
            <a:ext cx="4886325" cy="739760"/>
          </a:xfrm>
        </p:spPr>
        <p:txBody>
          <a:bodyPr>
            <a:normAutofit/>
          </a:bodyPr>
          <a:lstStyle/>
          <a:p>
            <a:r>
              <a:rPr lang="en-US" dirty="0"/>
              <a:t>trichotillosis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9F5033-9E88-2BA8-5027-577A32B9E2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52501" y="2260600"/>
            <a:ext cx="4886325" cy="4010031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Signs: </a:t>
            </a:r>
            <a:r>
              <a:rPr lang="en-US" dirty="0"/>
              <a:t>Self-inflected from repeated pulling/twisting/rubbing.  The most common is hair pulled from the scalp, eyebrows and eyelashes.</a:t>
            </a:r>
          </a:p>
          <a:p>
            <a:r>
              <a:rPr lang="en-US" b="1" dirty="0"/>
              <a:t>Aetiology:</a:t>
            </a:r>
            <a:r>
              <a:rPr lang="en-US" dirty="0"/>
              <a:t> Stress-related and compulsive </a:t>
            </a:r>
            <a:r>
              <a:rPr lang="en-US" dirty="0" err="1"/>
              <a:t>behaviour</a:t>
            </a:r>
            <a:r>
              <a:rPr lang="en-US" dirty="0"/>
              <a:t>.  Anxiety/depression co-occurs with another habitual </a:t>
            </a:r>
            <a:r>
              <a:rPr lang="en-US" dirty="0" err="1"/>
              <a:t>behaviour</a:t>
            </a:r>
            <a:r>
              <a:rPr lang="en-US" dirty="0"/>
              <a:t> like thumb sucking/skin picking.</a:t>
            </a:r>
          </a:p>
          <a:p>
            <a:r>
              <a:rPr lang="en-US" b="1" dirty="0"/>
              <a:t>Symptoms:</a:t>
            </a:r>
            <a:r>
              <a:rPr lang="en-US" dirty="0"/>
              <a:t> Sense of pleasure or relief after hair is pulled.</a:t>
            </a:r>
          </a:p>
          <a:p>
            <a:r>
              <a:rPr lang="en-US" b="1" dirty="0"/>
              <a:t>Prognosis:</a:t>
            </a:r>
            <a:r>
              <a:rPr lang="en-US" dirty="0"/>
              <a:t> For most people hair pulling ends within 12 months, for others, it is a lifetime disorder.</a:t>
            </a:r>
            <a:endParaRPr lang="en-US" b="1" dirty="0"/>
          </a:p>
          <a:p>
            <a:endParaRPr lang="en-US" b="1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2D17C6-5042-FC18-918B-B2732E32F7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53174" y="1620519"/>
            <a:ext cx="4886325" cy="511160"/>
          </a:xfrm>
        </p:spPr>
        <p:txBody>
          <a:bodyPr>
            <a:normAutofit/>
          </a:bodyPr>
          <a:lstStyle/>
          <a:p>
            <a:r>
              <a:rPr lang="en-US" dirty="0"/>
              <a:t>Traction alopecia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56C637-79F4-913B-1F51-2536385AEA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53174" y="2260599"/>
            <a:ext cx="4886325" cy="4010031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Signs: </a:t>
            </a:r>
            <a:r>
              <a:rPr lang="en-US" dirty="0"/>
              <a:t>Continual pulling of the hair to areas of the front and sides of the scalp.</a:t>
            </a:r>
          </a:p>
          <a:p>
            <a:r>
              <a:rPr lang="en-US" b="1" dirty="0"/>
              <a:t>Aetiology:</a:t>
            </a:r>
            <a:r>
              <a:rPr lang="en-US" dirty="0"/>
              <a:t> Repeated consistent pulling on the hair – Ponytail/ Cornrows/ Braids/ Dreadlocks</a:t>
            </a:r>
          </a:p>
          <a:p>
            <a:r>
              <a:rPr lang="en-US" b="1" dirty="0"/>
              <a:t>Symptoms: </a:t>
            </a:r>
            <a:r>
              <a:rPr lang="en-US" dirty="0"/>
              <a:t>Inflammation, soreness, stinging or itchiness of the scalp.</a:t>
            </a:r>
          </a:p>
          <a:p>
            <a:r>
              <a:rPr lang="en-US" b="1" dirty="0"/>
              <a:t>Prognosis:</a:t>
            </a:r>
            <a:r>
              <a:rPr lang="en-US" dirty="0"/>
              <a:t> Many times this is not reversible unless quickly treated.  If traction continues inflammation is more widespread creating scarring and permanent hair loss.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5952843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B8644-6E88-C97F-E70F-6D05B2D2A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406400"/>
            <a:ext cx="10287000" cy="685800"/>
          </a:xfrm>
        </p:spPr>
        <p:txBody>
          <a:bodyPr/>
          <a:lstStyle/>
          <a:p>
            <a:r>
              <a:rPr lang="en-US" dirty="0"/>
              <a:t>Conditions caused by reactive chemicals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FACDAF-7559-00E0-3559-332D2AA246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2501" y="1193801"/>
            <a:ext cx="4886325" cy="508000"/>
          </a:xfrm>
        </p:spPr>
        <p:txBody>
          <a:bodyPr/>
          <a:lstStyle/>
          <a:p>
            <a:r>
              <a:rPr lang="en-US" dirty="0"/>
              <a:t>Irritant contact dermatitis (ICD)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EF8BE8-7839-07B7-73D3-C58CB31E8D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52501" y="1981200"/>
            <a:ext cx="4886325" cy="4289431"/>
          </a:xfrm>
        </p:spPr>
        <p:txBody>
          <a:bodyPr>
            <a:normAutofit fontScale="92500"/>
          </a:bodyPr>
          <a:lstStyle/>
          <a:p>
            <a:r>
              <a:rPr lang="en-US" b="1" dirty="0"/>
              <a:t>Signs: </a:t>
            </a:r>
            <a:r>
              <a:rPr lang="en-US" dirty="0"/>
              <a:t>Takes place where skin barrier after exposure to chemical/harmful substance.  Most common on the scalp and hands when using detergents frequently.</a:t>
            </a:r>
          </a:p>
          <a:p>
            <a:r>
              <a:rPr lang="en-US" b="1" dirty="0"/>
              <a:t>Aetiology</a:t>
            </a:r>
            <a:r>
              <a:rPr lang="en-US" dirty="0"/>
              <a:t>: Lengthy exposure to detergents/ water, removes natural oils from the outer layer of the skin.</a:t>
            </a:r>
          </a:p>
          <a:p>
            <a:r>
              <a:rPr lang="en-US" b="1" dirty="0"/>
              <a:t>Symptoms: </a:t>
            </a:r>
            <a:r>
              <a:rPr lang="en-US" dirty="0"/>
              <a:t>Soreness, redness and inflammation, Cracked/dry sometimes weeping skin.</a:t>
            </a:r>
          </a:p>
          <a:p>
            <a:r>
              <a:rPr lang="en-US" b="1" dirty="0"/>
              <a:t>Prognosis:</a:t>
            </a:r>
            <a:r>
              <a:rPr lang="en-US" dirty="0"/>
              <a:t> Temporary reaction, avoid damaging substances and apply emollient cream.</a:t>
            </a:r>
            <a:endParaRPr lang="en-US" b="1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98B8B3-6AAB-0B87-BA77-5803EA59E7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53174" y="1193801"/>
            <a:ext cx="4886325" cy="508000"/>
          </a:xfrm>
        </p:spPr>
        <p:txBody>
          <a:bodyPr/>
          <a:lstStyle/>
          <a:p>
            <a:r>
              <a:rPr lang="en-US" dirty="0"/>
              <a:t>Chemical burns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AD06C6-33DF-1B21-72BD-A2D476E50A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53174" y="1981199"/>
            <a:ext cx="4886325" cy="4289431"/>
          </a:xfrm>
        </p:spPr>
        <p:txBody>
          <a:bodyPr>
            <a:normAutofit fontScale="92500"/>
          </a:bodyPr>
          <a:lstStyle/>
          <a:p>
            <a:r>
              <a:rPr lang="en-US" b="1" dirty="0"/>
              <a:t>Signs: </a:t>
            </a:r>
            <a:r>
              <a:rPr lang="en-US" dirty="0"/>
              <a:t>From contact, example: bleach and hair dyes.</a:t>
            </a:r>
          </a:p>
          <a:p>
            <a:r>
              <a:rPr lang="en-US" b="1" dirty="0"/>
              <a:t>Aetiology: </a:t>
            </a:r>
            <a:r>
              <a:rPr lang="en-US" dirty="0"/>
              <a:t>On the scalp, can result in secondary cicatricial alopecia.</a:t>
            </a:r>
          </a:p>
          <a:p>
            <a:r>
              <a:rPr lang="en-US" b="1" dirty="0"/>
              <a:t>Symptoms: </a:t>
            </a:r>
            <a:r>
              <a:rPr lang="en-US" dirty="0"/>
              <a:t>Redness, swelling, blisters, heat &amp; pain.</a:t>
            </a:r>
          </a:p>
          <a:p>
            <a:r>
              <a:rPr lang="en-US" b="1" dirty="0"/>
              <a:t>Prognosis: </a:t>
            </a:r>
            <a:r>
              <a:rPr lang="en-US" dirty="0"/>
              <a:t>Can result in permanent hair loss and scarring.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941264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499939-5201-C4AF-0099-59CDAA7930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2501" y="587369"/>
            <a:ext cx="4886325" cy="657231"/>
          </a:xfrm>
        </p:spPr>
        <p:txBody>
          <a:bodyPr/>
          <a:lstStyle/>
          <a:p>
            <a:r>
              <a:rPr lang="en-US" dirty="0"/>
              <a:t>Thermal burn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463A3A-4FA4-791F-5A0F-28FCA28D1C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52501" y="1625600"/>
            <a:ext cx="4886325" cy="4645031"/>
          </a:xfrm>
        </p:spPr>
        <p:txBody>
          <a:bodyPr/>
          <a:lstStyle/>
          <a:p>
            <a:r>
              <a:rPr lang="en-US" b="1" dirty="0"/>
              <a:t>Signs: </a:t>
            </a:r>
            <a:r>
              <a:rPr lang="en-US" dirty="0"/>
              <a:t>Contact with a heated object, tongs etc. Scalding is a burn caused after contact with steam or boiling water.</a:t>
            </a:r>
          </a:p>
          <a:p>
            <a:r>
              <a:rPr lang="en-US" b="1" dirty="0"/>
              <a:t>Aetiology: </a:t>
            </a:r>
            <a:r>
              <a:rPr lang="en-US" dirty="0"/>
              <a:t>On the scalp can result in secondary cicatricial alopecia.</a:t>
            </a:r>
          </a:p>
          <a:p>
            <a:r>
              <a:rPr lang="en-US" b="1" dirty="0"/>
              <a:t>Symptoms: </a:t>
            </a:r>
            <a:r>
              <a:rPr lang="en-US" dirty="0"/>
              <a:t>Redness, swelling, blistering, heat &amp; pain.</a:t>
            </a:r>
          </a:p>
          <a:p>
            <a:r>
              <a:rPr lang="en-US" b="1" dirty="0"/>
              <a:t>Prognosis:</a:t>
            </a:r>
            <a:r>
              <a:rPr lang="en-US" dirty="0"/>
              <a:t> Can result in permanent scarring and hair loss.</a:t>
            </a:r>
            <a:endParaRPr lang="en-US" b="1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50301539"/>
      </p:ext>
    </p:extLst>
  </p:cSld>
  <p:clrMapOvr>
    <a:masterClrMapping/>
  </p:clrMapOvr>
</p:sld>
</file>

<file path=ppt/theme/theme1.xml><?xml version="1.0" encoding="utf-8"?>
<a:theme xmlns:a="http://schemas.openxmlformats.org/drawingml/2006/main" name="AfterglowVTI">
  <a:themeElements>
    <a:clrScheme name="AnalogousFromLightSeedLeftStep">
      <a:dk1>
        <a:srgbClr val="000000"/>
      </a:dk1>
      <a:lt1>
        <a:srgbClr val="FFFFFF"/>
      </a:lt1>
      <a:dk2>
        <a:srgbClr val="3B213A"/>
      </a:dk2>
      <a:lt2>
        <a:srgbClr val="E3E2E8"/>
      </a:lt2>
      <a:accent1>
        <a:srgbClr val="93A94E"/>
      </a:accent1>
      <a:accent2>
        <a:srgbClr val="B6A03C"/>
      </a:accent2>
      <a:accent3>
        <a:srgbClr val="EA8946"/>
      </a:accent3>
      <a:accent4>
        <a:srgbClr val="EB4E4F"/>
      </a:accent4>
      <a:accent5>
        <a:srgbClr val="EE6EA5"/>
      </a:accent5>
      <a:accent6>
        <a:srgbClr val="EB4ED2"/>
      </a:accent6>
      <a:hlink>
        <a:srgbClr val="7A69AE"/>
      </a:hlink>
      <a:folHlink>
        <a:srgbClr val="7F7F7F"/>
      </a:folHlink>
    </a:clrScheme>
    <a:fontScheme name="Trade Gothic">
      <a:majorFont>
        <a:latin typeface="Trade Gothic Next Cond"/>
        <a:ea typeface=""/>
        <a:cs typeface=""/>
      </a:majorFont>
      <a:minorFont>
        <a:latin typeface="Trade Gothic Nex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fterglowVTI" id="{804DBEB7-1920-4C72-A0CB-091339F1875F}" vid="{D4C59F5A-9ECA-4C96-BDFD-0606A75324E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8539</TotalTime>
  <Words>967</Words>
  <Application>Microsoft Macintosh PowerPoint</Application>
  <PresentationFormat>Widescreen</PresentationFormat>
  <Paragraphs>84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Roboto</vt:lpstr>
      <vt:lpstr>Trade Gothic Next Cond</vt:lpstr>
      <vt:lpstr>Trade Gothic Next Light</vt:lpstr>
      <vt:lpstr>AfterglowVTI</vt:lpstr>
      <vt:lpstr>Common skin conditions</vt:lpstr>
      <vt:lpstr>Conditions caused by pathogenic, hormonal &amp; autoimmune origin</vt:lpstr>
      <vt:lpstr>PowerPoint Presentation</vt:lpstr>
      <vt:lpstr>PowerPoint Presentation</vt:lpstr>
      <vt:lpstr>PowerPoint Presentation</vt:lpstr>
      <vt:lpstr>PowerPoint Presentation</vt:lpstr>
      <vt:lpstr>Conditions caused by physical damage</vt:lpstr>
      <vt:lpstr>Conditions caused by reactive chemicals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Common skin conditions</dc:title>
  <dc:creator>lorraine hawkins</dc:creator>
  <cp:lastModifiedBy>lorraine hawkins</cp:lastModifiedBy>
  <cp:revision>2</cp:revision>
  <dcterms:created xsi:type="dcterms:W3CDTF">2023-08-16T14:07:06Z</dcterms:created>
  <dcterms:modified xsi:type="dcterms:W3CDTF">2023-08-22T12:26:39Z</dcterms:modified>
</cp:coreProperties>
</file>